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40"/>
  </p:notesMasterIdLst>
  <p:sldIdLst>
    <p:sldId id="291" r:id="rId2"/>
    <p:sldId id="366" r:id="rId3"/>
    <p:sldId id="338" r:id="rId4"/>
    <p:sldId id="368" r:id="rId5"/>
    <p:sldId id="352" r:id="rId6"/>
    <p:sldId id="353" r:id="rId7"/>
    <p:sldId id="354" r:id="rId8"/>
    <p:sldId id="356" r:id="rId9"/>
    <p:sldId id="369" r:id="rId10"/>
    <p:sldId id="370" r:id="rId11"/>
    <p:sldId id="358" r:id="rId12"/>
    <p:sldId id="359" r:id="rId13"/>
    <p:sldId id="360" r:id="rId14"/>
    <p:sldId id="361" r:id="rId15"/>
    <p:sldId id="35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62" r:id="rId26"/>
    <p:sldId id="367" r:id="rId27"/>
    <p:sldId id="371" r:id="rId28"/>
    <p:sldId id="372" r:id="rId29"/>
    <p:sldId id="373" r:id="rId30"/>
    <p:sldId id="363" r:id="rId31"/>
    <p:sldId id="364" r:id="rId32"/>
    <p:sldId id="365" r:id="rId33"/>
    <p:sldId id="374" r:id="rId34"/>
    <p:sldId id="323" r:id="rId35"/>
    <p:sldId id="333" r:id="rId36"/>
    <p:sldId id="334" r:id="rId37"/>
    <p:sldId id="337" r:id="rId38"/>
    <p:sldId id="309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469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588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9937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46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066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7899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3952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1937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6041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757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534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4799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583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1001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38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5648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1193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4091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3333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16499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9147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6419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9851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779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0705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3139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6439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0705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12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8947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F704-A433-05CE-EE28-5C879B5E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D8D6A1-44D5-B8BE-3BB2-4AA344C73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113186-96D0-7A4B-0028-2729324A3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6353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9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81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1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40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93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06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6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8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857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53737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 descr="Picture 5">
            <a:extLst>
              <a:ext uri="{FF2B5EF4-FFF2-40B4-BE49-F238E27FC236}">
                <a16:creationId xmlns:a16="http://schemas.microsoft.com/office/drawing/2014/main" id="{6609BD24-7961-44E4-B2CE-86BB3C9EC2A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6" descr="Picture 6">
            <a:extLst>
              <a:ext uri="{FF2B5EF4-FFF2-40B4-BE49-F238E27FC236}">
                <a16:creationId xmlns:a16="http://schemas.microsoft.com/office/drawing/2014/main" id="{117CBF87-EB84-44CB-B228-C032447DB25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" name="Imagem" descr="Imagem">
            <a:extLst>
              <a:ext uri="{FF2B5EF4-FFF2-40B4-BE49-F238E27FC236}">
                <a16:creationId xmlns:a16="http://schemas.microsoft.com/office/drawing/2014/main" id="{399B75A8-4A78-44D4-A955-A41CAC2A46C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400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media.com.br/sobrecarga-e-sobreposicao-de-metodos-em-orientacao-a-objetos/33066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classes.asp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aterialpublic.imd.ufrn.br/curso/disciplina/2/8" TargetMode="External"/><Relationship Id="rId4" Type="http://schemas.openxmlformats.org/officeDocument/2006/relationships/hyperlink" Target="https://docs.python.org/pt-br/3/tutorial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o1oCx6hqG4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lgoritmosempython.com.br/cursos/programacao-python/encapsulamento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Desenvolvimento Rápido de Aplicações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sz="3200" b="1">
                <a:solidFill>
                  <a:schemeClr val="bg1"/>
                </a:solidFill>
              </a:rPr>
              <a:t>Aula 11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CLASSES – orientação a objetos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  <p:extLst>
      <p:ext uri="{BB962C8B-B14F-4D97-AF65-F5344CB8AC3E}">
        <p14:creationId xmlns:p14="http://schemas.microsoft.com/office/powerpoint/2010/main" val="164052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uma linguagem de programação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orientada a objetos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Quase tudo em Python é um objeto, com suas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propriedades e métodos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como um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construtor de objetos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 um "plano" para criar objetos.</a:t>
            </a:r>
          </a:p>
        </p:txBody>
      </p:sp>
    </p:spTree>
    <p:extLst>
      <p:ext uri="{BB962C8B-B14F-4D97-AF65-F5344CB8AC3E}">
        <p14:creationId xmlns:p14="http://schemas.microsoft.com/office/powerpoint/2010/main" val="28074354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- </a:t>
            </a:r>
            <a:r>
              <a:rPr lang="en-US" b="1" dirty="0" err="1">
                <a:solidFill>
                  <a:srgbClr val="0070C0"/>
                </a:solidFill>
              </a:rPr>
              <a:t>Definição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criar uma classe, use a palavra-chave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555750" lvl="3" indent="0" algn="just">
              <a:buNone/>
            </a:pP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55750" lvl="3" indent="0" algn="just">
              <a:buNone/>
            </a:pP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555750" lvl="3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x = 5</a:t>
            </a:r>
          </a:p>
        </p:txBody>
      </p:sp>
    </p:spTree>
    <p:extLst>
      <p:ext uri="{BB962C8B-B14F-4D97-AF65-F5344CB8AC3E}">
        <p14:creationId xmlns:p14="http://schemas.microsoft.com/office/powerpoint/2010/main" val="26223127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</a:t>
            </a:r>
            <a:r>
              <a:rPr lang="en-US" b="1" dirty="0" err="1">
                <a:solidFill>
                  <a:srgbClr val="0070C0"/>
                </a:solidFill>
              </a:rPr>
              <a:t>Instância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Agora podemos usar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chamada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criar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62990" lvl="2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 =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1062990" lvl="2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num.x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93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The __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__() Function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Todas as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possuem uma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chamada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sempre é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executada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quando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está sendo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instanciada(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atribuir valores às propriedades do objeto ou outras operações que são necessárias quando o objeto está sendo criado.</a:t>
            </a:r>
          </a:p>
        </p:txBody>
      </p:sp>
    </p:spTree>
    <p:extLst>
      <p:ext uri="{BB962C8B-B14F-4D97-AF65-F5344CB8AC3E}">
        <p14:creationId xmlns:p14="http://schemas.microsoft.com/office/powerpoint/2010/main" val="11072909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–__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__() Function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Classe Pessoa, função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atributos,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e idade.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self.nome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self.idade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idade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=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(“Julia", 17)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(p1.nome) #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(p1.idade)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100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</a:t>
            </a:r>
            <a:r>
              <a:rPr lang="en-US" b="1" dirty="0" err="1">
                <a:solidFill>
                  <a:srgbClr val="0070C0"/>
                </a:solidFill>
              </a:rPr>
              <a:t>Parâmetro</a:t>
            </a:r>
            <a:r>
              <a:rPr lang="en-US" b="1" dirty="0">
                <a:solidFill>
                  <a:srgbClr val="0070C0"/>
                </a:solidFill>
              </a:rPr>
              <a:t> SELF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parâmetro self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 à instância atual da 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é usado para acessar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​​que pertencem à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 não precisa ser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nomeado self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você pode chamá-lo como quiser, mas deve ser 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primeiro parâmetro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qualquer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função na classe.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7066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</a:t>
            </a:r>
            <a:r>
              <a:rPr lang="en-US" b="1" dirty="0" err="1">
                <a:solidFill>
                  <a:srgbClr val="0070C0"/>
                </a:solidFill>
                <a:highlight>
                  <a:srgbClr val="FFFF00"/>
                </a:highlight>
              </a:rPr>
              <a:t>metódos</a:t>
            </a:r>
            <a:endParaRPr lang="en-US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também podem conter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objetos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são funções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pertencem ao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Ex.: ...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Pessoa:</a:t>
            </a:r>
          </a:p>
          <a:p>
            <a:pPr marL="2012950" lvl="4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imprime_nome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2012950" lvl="4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é: " +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.nome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p1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("Julia", 17)</a:t>
            </a: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p1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imprime_nome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# aqui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função</a:t>
            </a:r>
          </a:p>
        </p:txBody>
      </p:sp>
    </p:spTree>
    <p:extLst>
      <p:ext uri="{BB962C8B-B14F-4D97-AF65-F5344CB8AC3E}">
        <p14:creationId xmlns:p14="http://schemas.microsoft.com/office/powerpoint/2010/main" val="323373410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</a:t>
            </a:r>
            <a:r>
              <a:rPr lang="en-US" b="1" dirty="0" err="1">
                <a:solidFill>
                  <a:srgbClr val="0070C0"/>
                </a:solidFill>
              </a:rPr>
              <a:t>Parâmetro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SELF</a:t>
            </a:r>
            <a:r>
              <a:rPr lang="en-US" b="1" dirty="0">
                <a:solidFill>
                  <a:srgbClr val="0070C0"/>
                </a:solidFill>
              </a:rPr>
              <a:t>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 recomendado alterar o ponteiro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idade): # manter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.nome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nome</a:t>
            </a: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.idade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idade</a:t>
            </a: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imprime_nome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("Meu nome é: " +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myobject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.nome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("Julia", 17)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imprime_nome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69039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PROPRIEDADES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Modificando as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propriedades de objetos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.idade = 25 # Definindo ao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do objeto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25.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5513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DELETE ATRIBUTO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Excluindo uma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propriedade de objeto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p1.idade #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do objeto p1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9620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DELETE OBJETO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Excluindo um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p1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4836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– DELETE OBJETO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definições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podem ficar vazias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mas se por algum motivo você tiver uma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definição de classe sem conteúdo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coloque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instrução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evitar erros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0207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</a:t>
            </a:r>
            <a:r>
              <a:rPr lang="en-US" b="1" dirty="0" err="1">
                <a:solidFill>
                  <a:srgbClr val="0070C0"/>
                </a:solidFill>
              </a:rPr>
              <a:t>Encapsulamento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Encapsulamento (esconder)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proteção dos atributos ou métodos de uma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Python existem somente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eles são definidos no próprio nome do atributo ou método.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Protege informações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sigilosas ou sensíveis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 ele é possível deixar 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mais legível, funcional e reutilizável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441071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seja,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procuramos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esconder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clientes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usuários de uma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todas as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não são necessárias ao uso da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atributos ou métodos são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iniciados por no máximo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dois sublinhados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terminados por um sublinhado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todas as outras formas são públicas.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1D5FB0-590F-3AF0-23EF-139DEA8E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 </a:t>
            </a:r>
            <a:r>
              <a:rPr lang="en-US" b="1" dirty="0" err="1">
                <a:solidFill>
                  <a:srgbClr val="0070C0"/>
                </a:solidFill>
              </a:rPr>
              <a:t>Encapsulamento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03589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</a:t>
            </a:r>
            <a:r>
              <a:rPr lang="en-US" b="1" dirty="0" err="1">
                <a:solidFill>
                  <a:srgbClr val="0070C0"/>
                </a:solidFill>
              </a:rPr>
              <a:t>Níveis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acesso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níveis de acesso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visibilidade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responsáveis por informar qual o tipo de permissão de um determinado atributo. Nesse sentido, existem três níveis, que são: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Público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consiste no nível de proteção mais baixo de todos, uma vez que todas as classes de um programa podem acessar os dados e os métodos livremente. Pode-se dizer que, nesse caso, não existe encapsulamento;</a:t>
            </a:r>
          </a:p>
        </p:txBody>
      </p:sp>
    </p:spTree>
    <p:extLst>
      <p:ext uri="{BB962C8B-B14F-4D97-AF65-F5344CB8AC3E}">
        <p14:creationId xmlns:p14="http://schemas.microsoft.com/office/powerpoint/2010/main" val="67861979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</a:t>
            </a:r>
            <a:r>
              <a:rPr lang="en-US" b="1" dirty="0" err="1">
                <a:solidFill>
                  <a:srgbClr val="0070C0"/>
                </a:solidFill>
              </a:rPr>
              <a:t>Níveis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acesso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(01 _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FRACO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Somente as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derivadas da original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que têm total acesso aos atributos e métodos. Aqui, já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 encapsulamento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 modo que 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passam a ser usados, bem como na declaração 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 usa-se 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vez 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(02 _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aqui, o acesso aos dados é feito somente dentro da própria classe onde ela foi declarada.</a:t>
            </a:r>
          </a:p>
        </p:txBody>
      </p:sp>
    </p:spTree>
    <p:extLst>
      <p:ext uri="{BB962C8B-B14F-4D97-AF65-F5344CB8AC3E}">
        <p14:creationId xmlns:p14="http://schemas.microsoft.com/office/powerpoint/2010/main" val="399580775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</a:t>
            </a:r>
            <a:r>
              <a:rPr lang="en-US" b="1" dirty="0" err="1">
                <a:solidFill>
                  <a:srgbClr val="0070C0"/>
                </a:solidFill>
              </a:rPr>
              <a:t>Níveis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acesso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Python, existe uma convenção de que dados ou métodos cujo nome começa com _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dois _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underscores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não deveriam ser acessados fora da classe.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Já em Java e C++ existe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palavra-chave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indicar que um dado ou método não é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visível fora da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32043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nome, cargo,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#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nome 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.cargo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cargo 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.valor_hora_trabalhada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horas_trabalhadas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 #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05335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55391" y="1150045"/>
            <a:ext cx="8865056" cy="3948048"/>
          </a:xfrm>
        </p:spPr>
        <p:txBody>
          <a:bodyPr>
            <a:noAutofit/>
          </a:bodyPr>
          <a:lstStyle/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#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decoradores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equivalente a um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pertence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para exibir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artibuto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.__salario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@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salario.setter #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decoradores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equivalente a um set()</a:t>
            </a: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novo_salario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pertence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Impossivel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alterar salario diretamente. Use a função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().")</a:t>
            </a:r>
          </a:p>
        </p:txBody>
      </p:sp>
    </p:spTree>
    <p:extLst>
      <p:ext uri="{BB962C8B-B14F-4D97-AF65-F5344CB8AC3E}">
        <p14:creationId xmlns:p14="http://schemas.microsoft.com/office/powerpoint/2010/main" val="24507759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55391" y="1150045"/>
            <a:ext cx="8865056" cy="3948048"/>
          </a:xfrm>
        </p:spPr>
        <p:txBody>
          <a:bodyPr>
            <a:noAutofit/>
          </a:bodyPr>
          <a:lstStyle/>
          <a:p>
            <a:pPr marL="61912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pertence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horas_trabalhadas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1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pertence 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horas_trabalhadas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.valor_hora_trabalhada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9125" lvl="1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 NOMECLASSE__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nomeatributo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19125" lvl="1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NOMECLASSE 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nomeatributo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396621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55391" y="1150045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Influencer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instância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valor_hora_trabalhada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031368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55391" y="1150045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Importante...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cria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novo objeto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__salario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não pertence a classe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.__salario = 700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.__salario)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pertence a classe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foi alterado do código anterior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.salario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juju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._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__salario)</a:t>
            </a:r>
          </a:p>
        </p:txBody>
      </p:sp>
    </p:spTree>
    <p:extLst>
      <p:ext uri="{BB962C8B-B14F-4D97-AF65-F5344CB8AC3E}">
        <p14:creationId xmlns:p14="http://schemas.microsoft.com/office/powerpoint/2010/main" val="249470334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Polimorfismo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 Python, é a capacidade que uma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 de ter 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com o mesmo nome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sua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 o programa saber qual método deve ser invocado, especificamente (da super ou sub).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seja, 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assumir diferentes formas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polimorfismo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0052540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Polimorfismo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ser classificado de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três maneiras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Polimorfismo 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sobrecarga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estática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Polimorfismo 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sobreposição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dinâmica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Polimorfismo 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inclusão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https://www.devmedia.com.br/sobrecarga-e-sobreposicao-de-metodos-em-orientacao-a-objetos/33066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661068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OVERLOAD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Calculadora: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calcular(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x, y=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+ y + z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+ y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DA04D9-F5E9-3C4A-08AC-CD25A865866F}"/>
              </a:ext>
            </a:extLst>
          </p:cNvPr>
          <p:cNvSpPr txBox="1"/>
          <p:nvPr/>
        </p:nvSpPr>
        <p:spPr>
          <a:xfrm>
            <a:off x="3724275" y="2174439"/>
            <a:ext cx="38703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Calculadora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resultado1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calc.calcular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resultado2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calc.calcular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(2, 3)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resultado3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calc.calcular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(4, 5, 6)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print(resultado1)  # Saída: 1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print(resultado2)  # Saída: 5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print(resultado3)  # Saída: 15</a:t>
            </a:r>
          </a:p>
        </p:txBody>
      </p:sp>
    </p:spTree>
    <p:extLst>
      <p:ext uri="{BB962C8B-B14F-4D97-AF65-F5344CB8AC3E}">
        <p14:creationId xmlns:p14="http://schemas.microsoft.com/office/powerpoint/2010/main" val="49061543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OVERRIDE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761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falar(self):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Cachorro(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falar(self):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!"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8037DF-F30F-9580-F1C8-039B9EB3DC01}"/>
              </a:ext>
            </a:extLst>
          </p:cNvPr>
          <p:cNvSpPr txBox="1"/>
          <p:nvPr/>
        </p:nvSpPr>
        <p:spPr>
          <a:xfrm>
            <a:off x="4894413" y="1225887"/>
            <a:ext cx="31270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Gato(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falar(self):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Meow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!"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Pato(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falar(self):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!"</a:t>
            </a:r>
          </a:p>
        </p:txBody>
      </p:sp>
    </p:spTree>
    <p:extLst>
      <p:ext uri="{BB962C8B-B14F-4D97-AF65-F5344CB8AC3E}">
        <p14:creationId xmlns:p14="http://schemas.microsoft.com/office/powerpoint/2010/main" val="201691690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OVERRIDE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761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Função que usa o polimorfismo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fazerAnimalFalar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animal.falar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Criando instâncias das subclasses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cachorro =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Cachorro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gato =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pato =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8037DF-F30F-9580-F1C8-039B9EB3DC01}"/>
              </a:ext>
            </a:extLst>
          </p:cNvPr>
          <p:cNvSpPr txBox="1"/>
          <p:nvPr/>
        </p:nvSpPr>
        <p:spPr>
          <a:xfrm>
            <a:off x="4064000" y="1225887"/>
            <a:ext cx="4937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Chamando a função que faz os animais falarem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fazerAnimalFalar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(cachorro)  # Saída: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indent="0" algn="just">
              <a:buNone/>
            </a:pP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fazerAnimalFalar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(gato)         # Saída: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Meow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algn="just"/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fazerAnimalFalar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(pato)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# Saída: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87409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POLIMORFISMO DINÂMICO - OVERRIDE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x, y):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+ y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x, y, z):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+ y + z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3)) 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3, 7)) </a:t>
            </a:r>
          </a:p>
        </p:txBody>
      </p:sp>
    </p:spTree>
    <p:extLst>
      <p:ext uri="{BB962C8B-B14F-4D97-AF65-F5344CB8AC3E}">
        <p14:creationId xmlns:p14="http://schemas.microsoft.com/office/powerpoint/2010/main" val="105061492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herda a 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 seja, tudo que nem 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 e métodos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vai ter na subclasse.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Porém, quando chamamos o método soma(), ele vai invocar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 da subclasse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da 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O Python entende: "Opa, ele instanciou um objeto da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Por isso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 invocar o método da subclasse e não da 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seja, seu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 assumiu a forma da subclasse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embora ele também seja uma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Dizemos que o método da subclasse fez uma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sobreposição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ele sobrepôs, passou por cima, 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 da superclasse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18170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EXEMPLO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POLIMORFISMO DINÂMICO - OVERRIDE</a:t>
            </a:r>
            <a:endParaRPr 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def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hello(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("Olá, sou a </a:t>
            </a:r>
            <a:r>
              <a:rPr lang="en-US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superclasse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!")</a:t>
            </a:r>
          </a:p>
          <a:p>
            <a:pPr marL="0" indent="0" algn="just">
              <a:buNone/>
            </a:pPr>
            <a:endParaRPr 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en-US" sz="24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def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hello(self):</a:t>
            </a:r>
          </a:p>
          <a:p>
            <a:pPr marL="0" indent="0" algn="just">
              <a:buNone/>
            </a:pPr>
            <a:r>
              <a:rPr lang="en-US" sz="24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print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("Olá, sou a </a:t>
            </a:r>
            <a:r>
              <a:rPr lang="en-US" sz="24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subclasse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!")</a:t>
            </a:r>
          </a:p>
        </p:txBody>
      </p:sp>
    </p:spTree>
    <p:extLst>
      <p:ext uri="{BB962C8B-B14F-4D97-AF65-F5344CB8AC3E}">
        <p14:creationId xmlns:p14="http://schemas.microsoft.com/office/powerpoint/2010/main" val="335053617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1CDC-4AAD-4552-E666-F3A7EDD5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1A81D30-C30A-D1DD-BF11-050C5259A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99" y="603389"/>
            <a:ext cx="8719822" cy="5490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CLASSES E OO POLIMORFISMO EXEMPLO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C801538-2903-25F0-8EDF-549383096A3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152394"/>
            <a:ext cx="8865056" cy="39480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Subsub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hello(self):</a:t>
            </a:r>
          </a:p>
          <a:p>
            <a:pPr marL="0" indent="0" algn="just">
              <a:buNone/>
            </a:pPr>
            <a:r>
              <a:rPr lang="en-US" sz="24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print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("Olá, sou a </a:t>
            </a:r>
            <a:r>
              <a:rPr lang="en-US" sz="2400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subsubclasse</a:t>
            </a: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!")</a:t>
            </a:r>
          </a:p>
          <a:p>
            <a:pPr marL="0" indent="0" algn="just">
              <a:buNone/>
            </a:pPr>
            <a:endParaRPr lang="en-US" sz="24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Subsub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2066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8671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Classe/Herança/Polimorfismo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URL: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https://www.w3schools.com/python/python_classes.asp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URL 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https://docs.python.org/pt-br/3/tutorial/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Polimorfismo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URL: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https://materialpublic.imd.ufrn.br/curso/disciplina/2/8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pt-B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URL: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https://www.youtube.com/watch?v=Xo1oCx6hqG4/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URL: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https://algoritmosempython.com.br/cursos/programacao-python/encapsulamento/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Desafios em Sala de Aula.</a:t>
            </a: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SEBESTA, Robert W. Conceitos de Linguagens de Programação. 11. edição. Porto Alegre: Bookman, 2018., Capítulo 1 (Preliminares).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BORGES, Luiz Eduardo. Python para desenvolvedores: aborda Python 3.3.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2014.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Programação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2965</TotalTime>
  <Words>2174</Words>
  <Application>Microsoft Office PowerPoint</Application>
  <PresentationFormat>Apresentação na tela (16:9)</PresentationFormat>
  <Paragraphs>257</Paragraphs>
  <Slides>38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Arial</vt:lpstr>
      <vt:lpstr>Calibri</vt:lpstr>
      <vt:lpstr>Gill Sans MT</vt:lpstr>
      <vt:lpstr>Times New Roman</vt:lpstr>
      <vt:lpstr>Wingdings</vt:lpstr>
      <vt:lpstr>Galeria</vt:lpstr>
      <vt:lpstr>Desenvolvimento Rápido de Aplicações em Python</vt:lpstr>
      <vt:lpstr>Aula 11  CLASSES – orientação a objetos</vt:lpstr>
      <vt:lpstr>Python – CLASSES E OO</vt:lpstr>
      <vt:lpstr>Python – CLASSES E OO - Definição</vt:lpstr>
      <vt:lpstr>Python – CLASSES E OO – Instância(objETO)</vt:lpstr>
      <vt:lpstr>Python – CLASSES E OO – The __init__() Function</vt:lpstr>
      <vt:lpstr>Python – CLASSES E OO –__init__() Function</vt:lpstr>
      <vt:lpstr>Python – CLASSES E OO – Parâmetro SELF</vt:lpstr>
      <vt:lpstr>Python – CLASSES E OO – metódos</vt:lpstr>
      <vt:lpstr>Python – CLASSES E OO – Parâmetro SELF EXEMPLO</vt:lpstr>
      <vt:lpstr>Python – CLASSES E OO – PROPRIEDADES</vt:lpstr>
      <vt:lpstr>Python – CLASSES E OO – DELETE ATRIBUTO</vt:lpstr>
      <vt:lpstr>Python – CLASSES E OO – DELETE OBJETO</vt:lpstr>
      <vt:lpstr>Python – CLASSES E OO – DELETE OBJETO</vt:lpstr>
      <vt:lpstr>Python – CLASSES E OO Encapsulamento</vt:lpstr>
      <vt:lpstr>Python – CLASSES E OO  Encapsulamento</vt:lpstr>
      <vt:lpstr>Python – CLASSES E OO Níveis de acesso</vt:lpstr>
      <vt:lpstr>Python – CLASSES E OO Níveis de acesso</vt:lpstr>
      <vt:lpstr>Python – CLASSES E OO Níveis de acesso</vt:lpstr>
      <vt:lpstr>Python – CLASSES E OO EXEMPLO</vt:lpstr>
      <vt:lpstr>Python – CLASSES E OO EXEMPLO</vt:lpstr>
      <vt:lpstr>Python – CLASSES E OO EXEMPLO</vt:lpstr>
      <vt:lpstr>Python – CLASSES E OO EXEMPLO</vt:lpstr>
      <vt:lpstr>Python – CLASSES E OO EXEMPLO</vt:lpstr>
      <vt:lpstr>Python – CLASSES E OO POLIMORFISMO</vt:lpstr>
      <vt:lpstr>Python – CLASSES E OO POLIMORFISMO</vt:lpstr>
      <vt:lpstr>Python – CLASSES E OO POLIMORFISMO OVERLOAD</vt:lpstr>
      <vt:lpstr>Python – CLASSES E OO POLIMORFISMO OVERRIDE</vt:lpstr>
      <vt:lpstr>Python – CLASSES E OO POLIMORFISMO OVERRIDE</vt:lpstr>
      <vt:lpstr>Python – CLASSES E OO POLIMORFISMO EXEMPLO</vt:lpstr>
      <vt:lpstr>Python – CLASSES E OO POLIMORFISMO EXEMPLO</vt:lpstr>
      <vt:lpstr>Python – CLASSES E OO POLIMORFISMO EXEMPLO</vt:lpstr>
      <vt:lpstr>Python – CLASSES E OO POLIMORFISMO EXEMPLO</vt:lpstr>
      <vt:lpstr>Leitura Específica</vt:lpstr>
      <vt:lpstr>Aprenda+</vt:lpstr>
      <vt:lpstr>Dinâmica/Atividades</vt:lpstr>
      <vt:lpstr>Referências Bibliográficas</vt:lpstr>
      <vt:lpstr>Programação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742</cp:revision>
  <dcterms:created xsi:type="dcterms:W3CDTF">2020-03-17T20:12:34Z</dcterms:created>
  <dcterms:modified xsi:type="dcterms:W3CDTF">2026-04-07T13:29:52Z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