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24"/>
  </p:notesMasterIdLst>
  <p:sldIdLst>
    <p:sldId id="291" r:id="rId2"/>
    <p:sldId id="346" r:id="rId3"/>
    <p:sldId id="331" r:id="rId4"/>
    <p:sldId id="338" r:id="rId5"/>
    <p:sldId id="345" r:id="rId6"/>
    <p:sldId id="344" r:id="rId7"/>
    <p:sldId id="339" r:id="rId8"/>
    <p:sldId id="341" r:id="rId9"/>
    <p:sldId id="342" r:id="rId10"/>
    <p:sldId id="343" r:id="rId11"/>
    <p:sldId id="340" r:id="rId12"/>
    <p:sldId id="348" r:id="rId13"/>
    <p:sldId id="349" r:id="rId14"/>
    <p:sldId id="350" r:id="rId15"/>
    <p:sldId id="351" r:id="rId16"/>
    <p:sldId id="352" r:id="rId17"/>
    <p:sldId id="353" r:id="rId18"/>
    <p:sldId id="323" r:id="rId19"/>
    <p:sldId id="333" r:id="rId20"/>
    <p:sldId id="334" r:id="rId21"/>
    <p:sldId id="337" r:id="rId22"/>
    <p:sldId id="347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32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702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9460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563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4280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385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022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641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4284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499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7E0D4-AE43-5645-3771-A4298596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B04F26-10EC-39F4-0801-A07C00314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092861-39A7-8636-1F4F-84A705889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451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4CBB-DCF4-4058-CF51-12C24471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631B53-72F9-7AFE-1BAC-F9F550CAF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45BFD7-5DF1-B87A-0DFD-403B77B24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727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C433-E7A6-7D7D-3547-916F9631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D439E6C-A2B7-BC7A-2D3D-1BF31FDB0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4F9217-C9DF-40C3-2159-2E01E7FC4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800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E0A1-302F-A43F-9B9A-EDD7F2CF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A6ED9D-4466-4587-55A9-DDAC4E9D7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00CAE1-F5C6-FE26-27AE-F6CE6765E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894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E7A9-21A6-37F0-7904-65C32C53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4F899B-D646-0D26-F2CB-4650DEED3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765652-34B5-70C4-BEE3-F7E35ED1C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2301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36F8-D6F0-F527-96D5-E428906A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69855F-B6CA-F15A-D203-3F5759290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2898E80-DCB4-49D4-BA33-E0D0306D0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0483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79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81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1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408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93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06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6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48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857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53737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5" descr="Picture 5">
            <a:extLst>
              <a:ext uri="{FF2B5EF4-FFF2-40B4-BE49-F238E27FC236}">
                <a16:creationId xmlns:a16="http://schemas.microsoft.com/office/drawing/2014/main" id="{6609BD24-7961-44E4-B2CE-86BB3C9EC2A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6" descr="Picture 6">
            <a:extLst>
              <a:ext uri="{FF2B5EF4-FFF2-40B4-BE49-F238E27FC236}">
                <a16:creationId xmlns:a16="http://schemas.microsoft.com/office/drawing/2014/main" id="{117CBF87-EB84-44CB-B228-C032447DB25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" name="Imagem" descr="Imagem">
            <a:extLst>
              <a:ext uri="{FF2B5EF4-FFF2-40B4-BE49-F238E27FC236}">
                <a16:creationId xmlns:a16="http://schemas.microsoft.com/office/drawing/2014/main" id="{399B75A8-4A78-44D4-A955-A41CAC2A46C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400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ip.pypa.io/en/stable/installatio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sql/default.as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w3schools.com/sql/sql_intro.asp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Xlixv8Ieoc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Desenvolvimento Rápido de Aplicações em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sz="3200" b="1" dirty="0">
                <a:solidFill>
                  <a:schemeClr val="bg1"/>
                </a:solidFill>
              </a:rPr>
              <a:t>Aula 12 e 13</a:t>
            </a:r>
            <a:br>
              <a:rPr lang="pt-BR" sz="3200" b="1" dirty="0">
                <a:solidFill>
                  <a:schemeClr val="bg1"/>
                </a:solidFill>
              </a:rPr>
            </a:br>
            <a:r>
              <a:rPr lang="pt-BR" sz="3200" b="1" dirty="0">
                <a:solidFill>
                  <a:schemeClr val="bg1"/>
                </a:solidFill>
              </a:rPr>
              <a:t>	banco de dados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  <p:extLst>
      <p:ext uri="{BB962C8B-B14F-4D97-AF65-F5344CB8AC3E}">
        <p14:creationId xmlns:p14="http://schemas.microsoft.com/office/powerpoint/2010/main" val="415516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86999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DB-API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define uma interface padrão para o banco de dados Python.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conjunto de ferramentas de banco de dados comuns.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quatro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principais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bancos de dados livres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podem ser acessados do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MySQL, o PostgreSQL e 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Interbase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Firebird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INSTALAÇÃO </a:t>
            </a:r>
            <a:r>
              <a:rPr lang="en-US" b="1" dirty="0" err="1">
                <a:solidFill>
                  <a:srgbClr val="0070C0"/>
                </a:solidFill>
              </a:rPr>
              <a:t>PyTHON</a:t>
            </a:r>
            <a:r>
              <a:rPr lang="en-US" b="1" dirty="0">
                <a:solidFill>
                  <a:srgbClr val="0070C0"/>
                </a:solidFill>
              </a:rPr>
              <a:t>/PIP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https://www.python.org/downloads/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Adicionar/Verificar variáveis de ambiente, path Python. 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https://pip.pypa.io/en/stable/installation/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3511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INSTALAÇÃO DRIVER BD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conector do MySQL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-conector-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Shell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Atuailzar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versão do Python, 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www.python.org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1076325" lvl="1" indent="-457200" algn="just">
              <a:buAutoNum type="arabicPeriod"/>
            </a:pP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-conector-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(Windows;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pip3 Linux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OU</a:t>
            </a:r>
          </a:p>
          <a:p>
            <a:pPr marL="457200" indent="-457200" algn="just">
              <a:buAutoNum type="arabicPeriod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Instalar no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6325" lvl="1" indent="-457200" algn="just">
              <a:buAutoNum type="arabicPeriod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Extensão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SQLTolls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Python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IntelliSense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Dracula</a:t>
            </a:r>
          </a:p>
          <a:p>
            <a:pPr marL="1076325" lvl="1" indent="-457200" algn="just">
              <a:buAutoNum type="arabicPeriod"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CTRL+Shift+P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Linter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instalar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pylint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formatador de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76325" lvl="1" indent="-457200" algn="just">
              <a:buAutoNum type="arabicPeriod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arquivo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settings.json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(Incluir)</a:t>
            </a:r>
          </a:p>
          <a:p>
            <a:pPr marL="1520190" lvl="2" indent="-457200" algn="just">
              <a:buAutoNum type="arabicPeriod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python.pythonPath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"C:\\Program Files (x86)\\Microsoft Visual Studio\\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Python39_64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\\python.exe"</a:t>
            </a:r>
          </a:p>
          <a:p>
            <a:pPr marL="1520190" lvl="2" indent="-457200" algn="just">
              <a:buAutoNum type="arabicPeriod"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7975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MYSQL - </a:t>
            </a:r>
            <a:r>
              <a:rPr lang="en-US" b="1" dirty="0" err="1">
                <a:solidFill>
                  <a:srgbClr val="0070C0"/>
                </a:solidFill>
              </a:rPr>
              <a:t>Conexão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mysql.connector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 de conexão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mysql.connector.connect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localhost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coursejdbc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="12")</a:t>
            </a: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is_connected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conectado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 # print(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get_server_info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64018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</a:t>
            </a:r>
            <a:r>
              <a:rPr lang="en-US" b="1" dirty="0" err="1">
                <a:solidFill>
                  <a:srgbClr val="0070C0"/>
                </a:solidFill>
              </a:rPr>
              <a:t>mysql</a:t>
            </a:r>
            <a:r>
              <a:rPr lang="en-US" b="1" dirty="0">
                <a:solidFill>
                  <a:srgbClr val="0070C0"/>
                </a:solidFill>
              </a:rPr>
              <a:t> - SELECT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")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("conectado ao banco de dados: ", linha)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is_connected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# testando se está conectado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("Conexão encerrada")</a:t>
            </a:r>
          </a:p>
        </p:txBody>
      </p:sp>
    </p:spTree>
    <p:extLst>
      <p:ext uri="{BB962C8B-B14F-4D97-AF65-F5344CB8AC3E}">
        <p14:creationId xmlns:p14="http://schemas.microsoft.com/office/powerpoint/2010/main" val="27940417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INSERT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=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(“Digite o nome:”)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departament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}’)"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(‘Inserido com sucesso’)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46157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UPDATE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63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= "recursos humanos"</a:t>
            </a:r>
          </a:p>
          <a:p>
            <a:pPr marL="0" indent="0" algn="just">
              <a:buNone/>
            </a:pP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'{nome}'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= {id}"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("Atualizado com sucesso")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98630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DELETE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702783"/>
            <a:ext cx="8865056" cy="43447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= 63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= {id}"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linha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fetchone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(linha !=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# ou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linha.rowcount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(“Excluído com sucesso")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(“Registro não encontrado!!!")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03364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BANCO DE DADOS – CRUD READ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indent="0" algn="just"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cursor.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fetchall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linha in linhas: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print(linha)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cursor.close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print("Conexão encerrada")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42574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FE367-EA20-08B6-FDE7-40466FDA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0C80CB6-1AA7-A0A9-0FA0-BEEB62D8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r>
              <a:rPr lang="en-US" b="1" dirty="0">
                <a:solidFill>
                  <a:srgbClr val="0070C0"/>
                </a:solidFill>
              </a:rPr>
              <a:t> - </a:t>
            </a:r>
            <a:r>
              <a:rPr lang="en-US" b="1" dirty="0" err="1">
                <a:solidFill>
                  <a:srgbClr val="0070C0"/>
                </a:solidFill>
              </a:rPr>
              <a:t>Conexão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3B8CF4A-CDD2-F064-4364-7F6ADAD9473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psycopg2-binary</a:t>
            </a:r>
          </a:p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psycopg2</a:t>
            </a:r>
          </a:p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psycopg2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.connect(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://postgres:vkDRoYCjStLYzdFluJWHnQmGdtDLWCKR@switchback.proxy.rlwy.net:37985/railway"</a:t>
            </a:r>
          </a:p>
          <a:p>
            <a:pPr marL="0" indent="0" algn="just">
              <a:buNone/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.cursor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cursor.execute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();")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cursor.fetchone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5044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43AD-F7F8-94AA-A227-2D2C7CFB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392C283-CE4C-33CC-4390-E28B5FCD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r>
              <a:rPr lang="en-US" b="1" dirty="0">
                <a:solidFill>
                  <a:srgbClr val="0070C0"/>
                </a:solidFill>
              </a:rPr>
              <a:t> – SELECT bd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EF3C99C-CABF-1837-BECF-877D8359AFF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psycopg2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.connect(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 substituir pela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conexão"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.cursor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cursor.execute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current_database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")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linha =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cursor.fetchone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print("conectado ao banco de dados: ", linha)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0: # testando se está conectado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print("Conexão encerrada")</a:t>
            </a:r>
          </a:p>
        </p:txBody>
      </p:sp>
    </p:spTree>
    <p:extLst>
      <p:ext uri="{BB962C8B-B14F-4D97-AF65-F5344CB8AC3E}">
        <p14:creationId xmlns:p14="http://schemas.microsoft.com/office/powerpoint/2010/main" val="112882941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6069F-60F8-D883-C743-6E983207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A094A22-769F-CDE5-523A-3422FE96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r>
              <a:rPr lang="en-US" b="1" dirty="0">
                <a:solidFill>
                  <a:srgbClr val="0070C0"/>
                </a:solidFill>
              </a:rPr>
              <a:t> – SELECT </a:t>
            </a:r>
            <a:r>
              <a:rPr lang="en-US" b="1" dirty="0" err="1">
                <a:solidFill>
                  <a:srgbClr val="0070C0"/>
                </a:solidFill>
              </a:rPr>
              <a:t>tABELA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B693493-D7F9-EB40-7E97-41E7D0BC310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psycopg2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.connect(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substituir pela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conexão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.cursor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cursor.execute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linhas =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cursor.fetchall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linha in linhas: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print(linha)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print("Conexão encerrada")</a:t>
            </a:r>
          </a:p>
        </p:txBody>
      </p:sp>
    </p:spTree>
    <p:extLst>
      <p:ext uri="{BB962C8B-B14F-4D97-AF65-F5344CB8AC3E}">
        <p14:creationId xmlns:p14="http://schemas.microsoft.com/office/powerpoint/2010/main" val="206706877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33F4-964E-08C8-1802-EC071FD9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3B8E7F-E7DC-0E82-D236-E31D4F6F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r>
              <a:rPr lang="en-US" b="1" dirty="0">
                <a:solidFill>
                  <a:srgbClr val="0070C0"/>
                </a:solidFill>
              </a:rPr>
              <a:t> – INSERT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FF87963-3615-70D6-3A7E-A24F9748798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836895"/>
            <a:ext cx="8865056" cy="41609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psycopg2</a:t>
            </a:r>
          </a:p>
          <a:p>
            <a:pPr marL="0" indent="0" algn="just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psycopg2.connect(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substituir pela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conexão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=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.cursor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 = input("Digite o nome: ")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(id,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VALUES (%s, %s);"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cursor.execute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(55, nome,))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print("Inserido com sucesso!")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7842578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CB74E-A433-0B4E-E9F4-1B038276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EEBAD3-A725-2217-AA2B-BBA3A300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r>
              <a:rPr lang="en-US" b="1" dirty="0">
                <a:solidFill>
                  <a:srgbClr val="0070C0"/>
                </a:solidFill>
              </a:rPr>
              <a:t> – UPDATE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803DC3A-D713-AB86-93B7-119465A825B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603874"/>
            <a:ext cx="8865056" cy="44118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manter as três linhas anteriores 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cursor 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id_dep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(input("Digite o ID do departamento: "))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novo_nome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input("Digite o novo nome: ")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%s WHERE id = %s RETURNING id;"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cursor.execute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novo_nome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id_dep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0" indent="0" algn="just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=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cursor.fetchone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conn.commit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resultado:</a:t>
            </a:r>
          </a:p>
          <a:p>
            <a:pPr marL="0" indent="0" algn="just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print("Atualizado com sucesso! ID:", resultado[0])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print("Nenhum registro encontrado com esse ID.")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cursor.close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5929849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BBAF8-4DA9-18E9-2740-E9292954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843328-FE33-F4A4-44C0-77B7BBCE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" y="265188"/>
            <a:ext cx="8763140" cy="5967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Python – bd </a:t>
            </a:r>
            <a:r>
              <a:rPr lang="en-US" b="1" dirty="0" err="1">
                <a:solidFill>
                  <a:srgbClr val="0070C0"/>
                </a:solidFill>
              </a:rPr>
              <a:t>postgresql</a:t>
            </a:r>
            <a:r>
              <a:rPr lang="en-US" b="1" dirty="0">
                <a:solidFill>
                  <a:srgbClr val="0070C0"/>
                </a:solidFill>
              </a:rPr>
              <a:t> – delete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2D42C01-2525-C8E0-E4F3-348FC8BDE5F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675531"/>
            <a:ext cx="8865056" cy="43671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manter as três linhas anteriores 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cursor 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id_dep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(input("Digite o ID do departamento para deletar: "))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pt-B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id = %s RETURNING id;"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cursor.execute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id_dep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,))</a:t>
            </a:r>
          </a:p>
          <a:p>
            <a:pPr marL="0" indent="0" algn="just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 =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cursor.fetchone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conn.commit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resultado:</a:t>
            </a:r>
          </a:p>
          <a:p>
            <a:pPr marL="0" indent="0" algn="just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print("Deletado com sucesso! ID removido:", resultado[0])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print("Nenhum registro encontrado com esse ID.")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cursor.close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conn.close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print("Conexão encerrada")</a:t>
            </a:r>
          </a:p>
        </p:txBody>
      </p:sp>
    </p:spTree>
    <p:extLst>
      <p:ext uri="{BB962C8B-B14F-4D97-AF65-F5344CB8AC3E}">
        <p14:creationId xmlns:p14="http://schemas.microsoft.com/office/powerpoint/2010/main" val="47289665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Site: </a:t>
            </a:r>
            <a:r>
              <a:rPr lang="pt-B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https://www.w3schools.com/sql/default.asp</a:t>
            </a:r>
            <a:endParaRPr lang="pt-BR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 </a:t>
            </a:r>
            <a:r>
              <a:rPr lang="pt-BR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https://www.w3schools.com/sql/sql_intro.asp</a:t>
            </a:r>
            <a:endParaRPr lang="pt-BR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https://www.youtube.com/watch?v=FXlixv8Ieoc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Desafios em Sala de Aula.</a:t>
            </a: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Atividade (domínio – livre escolha)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Criar uma app, implementando um CRUD.</a:t>
            </a: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SEBESTA, Robert W. Conceitos de Linguagens de Programação. 11. edição. Porto Alegre: Bookman, 2018., Capítulo 1 (Preliminares).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BORGES, Luiz Eduardo. Python para desenvolvedores: aborda Python 3.3.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Novatec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Editora, 2014.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Desenvolvimento Rápido de Aplicações em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  <p:extLst>
      <p:ext uri="{BB962C8B-B14F-4D97-AF65-F5344CB8AC3E}">
        <p14:creationId xmlns:p14="http://schemas.microsoft.com/office/powerpoint/2010/main" val="192355789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3969</TotalTime>
  <Words>1292</Words>
  <Application>Microsoft Office PowerPoint</Application>
  <PresentationFormat>Apresentação na tela (16:9)</PresentationFormat>
  <Paragraphs>178</Paragraphs>
  <Slides>22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Gill Sans MT</vt:lpstr>
      <vt:lpstr>Times New Roman</vt:lpstr>
      <vt:lpstr>Galeria</vt:lpstr>
      <vt:lpstr>Desenvolvimento Rápido de Aplicações em Python</vt:lpstr>
      <vt:lpstr>Aula 12 e 13  banco de dados</vt:lpstr>
      <vt:lpstr>Python – BANCO DE DADOS</vt:lpstr>
      <vt:lpstr>Python – INSTALAÇÃO PyTHON/PIP</vt:lpstr>
      <vt:lpstr>Python – INSTALAÇÃO DRIVER BD</vt:lpstr>
      <vt:lpstr>Python – BD MYSQL - Conexão</vt:lpstr>
      <vt:lpstr>Python – bd mysql - SELECT</vt:lpstr>
      <vt:lpstr>Python – BANCO DE DADOS – CRUD INSERT</vt:lpstr>
      <vt:lpstr>Python – BANCO DE DADOS – CRUD UPDATE</vt:lpstr>
      <vt:lpstr>Python – BANCO DE DADOS – CRUD DELETE</vt:lpstr>
      <vt:lpstr>Python – BANCO DE DADOS – CRUD READ</vt:lpstr>
      <vt:lpstr>Python – BD postgresql - Conexão</vt:lpstr>
      <vt:lpstr>Python – bd postgresql – SELECT bd</vt:lpstr>
      <vt:lpstr>Python – bd postgresql – SELECT tABELA</vt:lpstr>
      <vt:lpstr>Python – bd postgresql – INSERT</vt:lpstr>
      <vt:lpstr>Python – bd postgresql – UPDATE</vt:lpstr>
      <vt:lpstr>Python – bd postgresql – delete</vt:lpstr>
      <vt:lpstr>Leitura Específica</vt:lpstr>
      <vt:lpstr>Aprenda+</vt:lpstr>
      <vt:lpstr>Dinâmica/Atividades</vt:lpstr>
      <vt:lpstr>Referências Bibliográficas</vt:lpstr>
      <vt:lpstr>Desenvolvimento Rápido de Aplicações em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717</cp:revision>
  <dcterms:created xsi:type="dcterms:W3CDTF">2020-03-17T20:12:34Z</dcterms:created>
  <dcterms:modified xsi:type="dcterms:W3CDTF">2026-04-28T13:46:36Z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